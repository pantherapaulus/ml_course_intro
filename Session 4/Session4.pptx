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Average" pitchFamily="2" charset="77"/>
      <p:regular r:id="rId24"/>
    </p:embeddedFont>
    <p:embeddedFont>
      <p:font typeface="Oswald" pitchFamily="2" charset="77"/>
      <p:regular r:id="rId25"/>
      <p:bold r:id="rId26"/>
    </p:embeddedFont>
    <p:embeddedFont>
      <p:font typeface="Source Code Pro" panose="020B0509030403020204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CF46BF-F537-4FA3-95EF-FAFCE7273960}">
  <a:tblStyle styleId="{7DCF46BF-F537-4FA3-95EF-FAFCE72739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9"/>
  </p:normalViewPr>
  <p:slideViewPr>
    <p:cSldViewPr snapToGrid="0">
      <p:cViewPr varScale="1">
        <p:scale>
          <a:sx n="149" d="100"/>
          <a:sy n="149" d="100"/>
        </p:scale>
        <p:origin x="5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0499e1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0499e1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00499e14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00499e14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c6339ecc7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c6339ecc7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18bf984f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18bf984f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4f600eb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4f600eb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c6339ecc7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c6339ecc7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c6339ecc7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c6339ecc7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18bf984f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18bf984f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18bf984f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18bf984f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911f4865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911f4865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18bf984fd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18bf984fd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18bf984f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18bf984f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00499e14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00499e14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00499e14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00499e14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00499e14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00499e14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00499e14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00499e141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00499e141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00499e141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c6339ecc7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c6339ecc7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c6339ecc7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c6339ecc7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eb1a2a05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eb1a2a05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hyperlink" Target="https://www.geeksforgeeks.org/machine-learning/cross-validation-machine-learning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cross-validation-machine-learning/" TargetMode="External"/><Relationship Id="rId7" Type="http://schemas.openxmlformats.org/officeDocument/2006/relationships/hyperlink" Target="https://www.geeksforgeeks.org/machine-learning/time-series-analysis-and-forecastin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eeksforgeeks.org/machine-learning/auc-roc-curve/" TargetMode="External"/><Relationship Id="rId5" Type="http://schemas.openxmlformats.org/officeDocument/2006/relationships/hyperlink" Target="https://www.geeksforgeeks.org/machine-learning/confusion-matrix-machine-learning/" TargetMode="External"/><Relationship Id="rId4" Type="http://schemas.openxmlformats.org/officeDocument/2006/relationships/hyperlink" Target="https://www.geeksforgeeks.org/machine-learning/ml-r-squared-in-regression-analysi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Machine Learning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Session 4</a:t>
            </a:r>
            <a:endParaRPr sz="3600"/>
          </a:p>
        </p:txBody>
      </p:sp>
      <p:sp>
        <p:nvSpPr>
          <p:cNvPr id="60" name="Google Shape;60;p13"/>
          <p:cNvSpPr txBox="1"/>
          <p:nvPr/>
        </p:nvSpPr>
        <p:spPr>
          <a:xfrm>
            <a:off x="512700" y="3501475"/>
            <a:ext cx="8374800" cy="1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For TUM PhD students</a:t>
            </a:r>
            <a:endParaRPr sz="21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Claudia Serrano Colome</a:t>
            </a:r>
            <a:endParaRPr sz="21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claudiaserranocolome@gmail.com</a:t>
            </a:r>
            <a:endParaRPr sz="21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Github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2163175" y="94925"/>
            <a:ext cx="6851700" cy="8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1565"/>
              <a:t>Navigate to </a:t>
            </a:r>
            <a:r>
              <a:rPr lang="en-GB" sz="1380">
                <a:latin typeface="Source Code Pro"/>
                <a:ea typeface="Source Code Pro"/>
                <a:cs typeface="Source Code Pro"/>
                <a:sym typeface="Source Code Pro"/>
              </a:rPr>
              <a:t>https://github.com/cserranocolome/ml_course_intro</a:t>
            </a:r>
            <a:endParaRPr sz="138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-GB" sz="1565"/>
              <a:t>Download the materials for the session</a:t>
            </a:r>
            <a:endParaRPr sz="1565"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825" y="1065800"/>
            <a:ext cx="7504358" cy="39060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5431925" y="2461200"/>
            <a:ext cx="653700" cy="3558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918300" y="3864825"/>
            <a:ext cx="2225100" cy="192300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250" y="1094650"/>
            <a:ext cx="6259589" cy="39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Anaconda Navigator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4057100" y="302975"/>
            <a:ext cx="4729200" cy="8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565"/>
              <a:t>Start Anaconda Navigator and click on Launch under the jupyter notebook tool</a:t>
            </a:r>
            <a:endParaRPr sz="1565"/>
          </a:p>
        </p:txBody>
      </p:sp>
      <p:sp>
        <p:nvSpPr>
          <p:cNvPr id="77" name="Google Shape;77;p15"/>
          <p:cNvSpPr/>
          <p:nvPr/>
        </p:nvSpPr>
        <p:spPr>
          <a:xfrm>
            <a:off x="5341225" y="2845775"/>
            <a:ext cx="653700" cy="35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Unsupervised Learning concepts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Dimensionality Reduction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PCA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t-SNE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UMAP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Clustering methods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Distance Metrics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k-Means Algorithm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Choosing Number of Clusters (k)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Hierarchical Clustering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Recap from last session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 Evaluation Matters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800"/>
              <a:t>When is a model good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Train/Test split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800"/>
              <a:t>Cross-validation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Types of evaluation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800"/>
              <a:t>Regression metrics</a:t>
            </a:r>
            <a:endParaRPr sz="18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800"/>
              <a:t>Classification metrics: Confusion matrix </a:t>
            </a:r>
            <a:endParaRPr sz="18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800"/>
              <a:t>ROC/AUC curve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New Additions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Mini Project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Today's session outlook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Multicollinearity metrics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Time series models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New additions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Evaluation Matters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 model is easy. Knowing if it works is the real challenge.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Poor evaluation → Misleading conclusions → Unreliable research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Good evaluation ensures: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Reproducibility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Generalization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Scientific Validity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is a model good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Depends on the context: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Scientific interpretability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Baseline comparison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Cost of wrong predictions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Sometimes a simple model is preferred over a complex one.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Sometimes a better prediction accuracy is preferred.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Train/Test split</a:t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b="63194"/>
          <a:stretch/>
        </p:blipFill>
        <p:spPr>
          <a:xfrm>
            <a:off x="1178200" y="1249850"/>
            <a:ext cx="6787600" cy="124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t="36016"/>
          <a:stretch/>
        </p:blipFill>
        <p:spPr>
          <a:xfrm>
            <a:off x="1178200" y="2498950"/>
            <a:ext cx="6787600" cy="217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5595350" y="445025"/>
            <a:ext cx="2370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k-fold cross-validation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k = 5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81152" y="4597032"/>
            <a:ext cx="47163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Source</a:t>
            </a:r>
            <a:r>
              <a:rPr lang="en-GB" sz="15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:</a:t>
            </a:r>
            <a:r>
              <a:rPr lang="en-GB" sz="1100">
                <a:solidFill>
                  <a:srgbClr val="CACACA"/>
                </a:solidFill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https://www.geeksforgeeks.org/machine-learning/cross-validation-machine-learning/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337" y="2096625"/>
            <a:ext cx="7015326" cy="15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Evaluation </a:t>
            </a:r>
            <a:endParaRPr/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952500" y="1511700"/>
          <a:ext cx="7239000" cy="2011560"/>
        </p:xfrm>
        <a:graphic>
          <a:graphicData uri="http://schemas.openxmlformats.org/drawingml/2006/table">
            <a:tbl>
              <a:tblPr>
                <a:noFill/>
                <a:tableStyleId>{7DCF46BF-F537-4FA3-95EF-FAFCE7273960}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Learning Type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Example Metrics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Goal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Regression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MSE, RMSE, MAE, R</a:t>
                      </a:r>
                      <a:r>
                        <a:rPr lang="en-GB" baseline="30000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30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Close numeric predictions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Classification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Accuracy, Precision, Recall, F1, ROC-AUC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Correct class prediction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Clustering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Silhouette Score, Davies-Bouldin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Meaningful grouping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Regression Metrics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2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Mean Squared Error (MSE): penalizes larger errors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Root Mean Squared Error (RMSE): interpretable in original units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Mean Absolute Error: robust to outliers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</a:t>
            </a:r>
            <a:r>
              <a:rPr lang="en-GB" baseline="30000"/>
              <a:t>2</a:t>
            </a:r>
            <a:r>
              <a:rPr lang="en-GB"/>
              <a:t> (Coefficient of Determination): variance explained by the model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Compares the variability explained by the regression model to the total variability in the data that exists without using any model (just the average of the dependent variable). </a:t>
            </a:r>
            <a:endParaRPr sz="2200"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750" y="3266350"/>
            <a:ext cx="3218149" cy="192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600" y="3266360"/>
            <a:ext cx="3218149" cy="1925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6475" y="3854975"/>
            <a:ext cx="1731050" cy="7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Classification Metrics: Confusion Matrix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 l="7613" t="16797" r="8907" b="17611"/>
          <a:stretch/>
        </p:blipFill>
        <p:spPr>
          <a:xfrm>
            <a:off x="788261" y="1336575"/>
            <a:ext cx="5542378" cy="14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 rotWithShape="1">
          <a:blip r:embed="rId4">
            <a:alphaModFix/>
          </a:blip>
          <a:srcRect l="28303" r="28406" b="54747"/>
          <a:stretch/>
        </p:blipFill>
        <p:spPr>
          <a:xfrm>
            <a:off x="730798" y="3096650"/>
            <a:ext cx="2343450" cy="160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 rotWithShape="1">
          <a:blip r:embed="rId4">
            <a:alphaModFix/>
          </a:blip>
          <a:srcRect t="53198"/>
          <a:stretch/>
        </p:blipFill>
        <p:spPr>
          <a:xfrm>
            <a:off x="3292846" y="3096650"/>
            <a:ext cx="5234071" cy="16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3206425" y="2768900"/>
            <a:ext cx="174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Sensitivity or TPR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6411325" y="1849438"/>
            <a:ext cx="21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TPR = TP/(TP+FN)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6411325" y="2302688"/>
            <a:ext cx="211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FPR = FP/(FP+TN)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ROC/AUC Curves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311700" y="1085568"/>
            <a:ext cx="8597700" cy="3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85"/>
              <a:t>They help understand how well a classification model distinguishes between the classes.</a:t>
            </a:r>
            <a:endParaRPr sz="208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85"/>
              <a:t>ROC Curve: plot TPR vs FDR at different thresholds. Trade-off: There is an inverse relationship. </a:t>
            </a:r>
            <a:endParaRPr sz="2085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8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85"/>
              <a:t>   threshold     positive prediction TPR but also     FPR.</a:t>
            </a:r>
            <a:endParaRPr sz="208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85"/>
              <a:t>   threshold,    TPR but also    FPR. </a:t>
            </a:r>
            <a:endParaRPr sz="208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85"/>
              <a:t>AUC is the area under the ROC curve. </a:t>
            </a:r>
            <a:endParaRPr sz="2085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85"/>
              <a:t>AUC = 1 → perfect performance</a:t>
            </a:r>
            <a:endParaRPr sz="2085"/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85"/>
              <a:t>AUC = 0.5 → random guessing</a:t>
            </a:r>
            <a:endParaRPr sz="2085"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650" y="2465925"/>
            <a:ext cx="3222000" cy="2369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7687" y="2465925"/>
            <a:ext cx="3125920" cy="2369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5"/>
          <p:cNvCxnSpPr/>
          <p:nvPr/>
        </p:nvCxnSpPr>
        <p:spPr>
          <a:xfrm>
            <a:off x="412600" y="2408675"/>
            <a:ext cx="13200" cy="26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3" name="Google Shape;153;p25"/>
          <p:cNvCxnSpPr/>
          <p:nvPr/>
        </p:nvCxnSpPr>
        <p:spPr>
          <a:xfrm>
            <a:off x="1512875" y="2851000"/>
            <a:ext cx="13200" cy="26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4" name="Google Shape;154;p25"/>
          <p:cNvCxnSpPr/>
          <p:nvPr/>
        </p:nvCxnSpPr>
        <p:spPr>
          <a:xfrm>
            <a:off x="2827276" y="2851000"/>
            <a:ext cx="13200" cy="26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5"/>
          <p:cNvCxnSpPr/>
          <p:nvPr/>
        </p:nvCxnSpPr>
        <p:spPr>
          <a:xfrm rot="10800000" flipH="1">
            <a:off x="1512874" y="2408675"/>
            <a:ext cx="13200" cy="26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5"/>
          <p:cNvCxnSpPr/>
          <p:nvPr/>
        </p:nvCxnSpPr>
        <p:spPr>
          <a:xfrm rot="10800000" flipH="1">
            <a:off x="4543098" y="2408675"/>
            <a:ext cx="13200" cy="26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7" name="Google Shape;157;p25"/>
          <p:cNvCxnSpPr/>
          <p:nvPr/>
        </p:nvCxnSpPr>
        <p:spPr>
          <a:xfrm rot="10800000" flipH="1">
            <a:off x="412599" y="2851000"/>
            <a:ext cx="13200" cy="26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Multicollinearity</a:t>
            </a:r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Multicollinearity occurs when two or more predictor variables in a dataset are highly linearly correlated — meaning one can be (almost) predicted from another.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If features carry the same information, the model can’t tell which one truly explains the target → it affects interpretability.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If this happens, we might want to drop one of the correlated features, or use a dimensionality reduction technique (such as PCA).</a:t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 rotWithShape="1">
          <a:blip r:embed="rId3">
            <a:alphaModFix/>
          </a:blip>
          <a:srcRect l="3022" t="10525" r="31265" b="6141"/>
          <a:stretch/>
        </p:blipFill>
        <p:spPr>
          <a:xfrm>
            <a:off x="6363043" y="3338512"/>
            <a:ext cx="2836100" cy="18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Quantify Multicollinearity</a:t>
            </a:r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30700" cy="15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Correlation Matrix: </a:t>
            </a:r>
            <a:r>
              <a:rPr lang="en-GB"/>
              <a:t>pairwise Pearson correlation between variables.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Variance Inflation Factor (VIF): </a:t>
            </a:r>
            <a:endParaRPr/>
          </a:p>
        </p:txBody>
      </p:sp>
      <p:pic>
        <p:nvPicPr>
          <p:cNvPr id="171" name="Google Shape;171;p27" descr="Beginners Guide to Pairwise Correlation — Pearson Correlation Coefficient —  Part 1 | by Lewis Fantom | Medium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400" y="608700"/>
            <a:ext cx="3222750" cy="250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829125" y="2535075"/>
            <a:ext cx="4226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Compute a linear regression of each variables against all the other ones and compute R</a:t>
            </a:r>
            <a:r>
              <a:rPr lang="en-GB" sz="1800" baseline="30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2</a:t>
            </a:r>
            <a:endParaRPr sz="1800" baseline="30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610" y="3944475"/>
            <a:ext cx="1931625" cy="83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 rotWithShape="1">
          <a:blip r:embed="rId5">
            <a:alphaModFix/>
          </a:blip>
          <a:srcRect l="16597" t="9506" b="3996"/>
          <a:stretch/>
        </p:blipFill>
        <p:spPr>
          <a:xfrm>
            <a:off x="370425" y="3781683"/>
            <a:ext cx="1426775" cy="1156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Variance Inflation Factors (VIFs) - Statistics By Jim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8025" y="3731225"/>
            <a:ext cx="42291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Models</a:t>
            </a:r>
            <a:endParaRPr/>
          </a:p>
        </p:txBody>
      </p:sp>
      <p:pic>
        <p:nvPicPr>
          <p:cNvPr id="181" name="Google Shape;181;p28" descr="Components of Time Series-Geeksforgeek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875" y="2384425"/>
            <a:ext cx="5283350" cy="264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 descr="The Complete Guide to Time Series Models | by Okanda Steven | Medium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800" y="93275"/>
            <a:ext cx="4556525" cy="22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36675" y="2458000"/>
            <a:ext cx="188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Long-term increase/decrease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0" y="4041175"/>
            <a:ext cx="188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Long-term fluctuations with no fixed period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7126225" y="2571750"/>
            <a:ext cx="188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Regular repeating pattern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7126225" y="4118525"/>
            <a:ext cx="188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Noise, random fluctuations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Models</a:t>
            </a:r>
            <a:endParaRPr/>
          </a:p>
        </p:txBody>
      </p:sp>
      <p:sp>
        <p:nvSpPr>
          <p:cNvPr id="192" name="Google Shape;192;p29"/>
          <p:cNvSpPr txBox="1"/>
          <p:nvPr/>
        </p:nvSpPr>
        <p:spPr>
          <a:xfrm>
            <a:off x="418250" y="1017725"/>
            <a:ext cx="8137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Depending on the goal of the analysis we would choose different models: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75" y="1538550"/>
            <a:ext cx="6848796" cy="23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/>
          <p:cNvPicPr preferRelativeResize="0"/>
          <p:nvPr/>
        </p:nvPicPr>
        <p:blipFill rotWithShape="1">
          <a:blip r:embed="rId4">
            <a:alphaModFix/>
          </a:blip>
          <a:srcRect l="1068"/>
          <a:stretch/>
        </p:blipFill>
        <p:spPr>
          <a:xfrm>
            <a:off x="5194825" y="-29437"/>
            <a:ext cx="3890450" cy="520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9"/>
          <p:cNvSpPr txBox="1"/>
          <p:nvPr/>
        </p:nvSpPr>
        <p:spPr>
          <a:xfrm>
            <a:off x="-212800" y="4549175"/>
            <a:ext cx="5246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accent5"/>
                </a:solidFill>
              </a:rPr>
              <a:t>https://www.geeksforgeeks.org/machine-learning/time-series-analysis-and-forecasting/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Models - Autoregressive Model (AR)</a:t>
            </a:r>
            <a:endParaRPr/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75" y="1160975"/>
            <a:ext cx="7801326" cy="2698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30"/>
          <p:cNvGrpSpPr/>
          <p:nvPr/>
        </p:nvGrpSpPr>
        <p:grpSpPr>
          <a:xfrm>
            <a:off x="5491900" y="4089925"/>
            <a:ext cx="3537837" cy="1000525"/>
            <a:chOff x="311700" y="4067900"/>
            <a:chExt cx="3537837" cy="1000525"/>
          </a:xfrm>
        </p:grpSpPr>
        <p:pic>
          <p:nvPicPr>
            <p:cNvPr id="203" name="Google Shape;203;p30"/>
            <p:cNvPicPr preferRelativeResize="0"/>
            <p:nvPr/>
          </p:nvPicPr>
          <p:blipFill rotWithShape="1">
            <a:blip r:embed="rId4">
              <a:alphaModFix/>
            </a:blip>
            <a:srcRect l="95460"/>
            <a:stretch/>
          </p:blipFill>
          <p:spPr>
            <a:xfrm>
              <a:off x="3605763" y="4067900"/>
              <a:ext cx="243774" cy="100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30"/>
            <p:cNvPicPr preferRelativeResize="0"/>
            <p:nvPr/>
          </p:nvPicPr>
          <p:blipFill rotWithShape="1">
            <a:blip r:embed="rId4">
              <a:alphaModFix/>
            </a:blip>
            <a:srcRect r="38525"/>
            <a:stretch/>
          </p:blipFill>
          <p:spPr>
            <a:xfrm>
              <a:off x="311700" y="4067900"/>
              <a:ext cx="3301399" cy="1000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You have been provided with data from a clinical study investigating potential biomarkers of disease progression.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dataset contains patient demographic information, laboratory measurements, and treatment data.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Your task is to: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Preprocess the data as needed.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Explore correlations and decide which features to keep.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Choose and train an appropriate model.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Evaluate your model using relevant metrics.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Interpret which features are most predictive.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Mini Project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 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Additional resources</a:t>
            </a:r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Train/Test cross-validation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https://www.geeksforgeeks.org/machine-learning/cross-validation-machine-learning/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Coefficient of Determination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https://www.geeksforgeeks.org/machine-learning/ml-r-squared-in-regression-analysis/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Confusion matrix and metrics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https://www.geeksforgeeks.org/machine-learning/confusion-matrix-machine-learning/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AUC/ROC curve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https://www.geeksforgeeks.org/machine-learning/auc-roc-curve/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Time Series Models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https://www.geeksforgeeks.org/machine-learning/time-series-analysis-and-forecasting/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Variance Inflation Factors (VIF)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https://statisticsbyjim.com/regression/variance-inflation-factors/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Microsoft Macintosh PowerPoint</Application>
  <PresentationFormat>On-screen Show (16:9)</PresentationFormat>
  <Paragraphs>133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Source Code Pro</vt:lpstr>
      <vt:lpstr>Oswald</vt:lpstr>
      <vt:lpstr>Arial</vt:lpstr>
      <vt:lpstr>Average</vt:lpstr>
      <vt:lpstr>Slate</vt:lpstr>
      <vt:lpstr>Introduction to Machine Learning Session 4</vt:lpstr>
      <vt:lpstr>Github</vt:lpstr>
      <vt:lpstr>Anaconda Navigator</vt:lpstr>
      <vt:lpstr>Recap from last session</vt:lpstr>
      <vt:lpstr>Today's session outlook</vt:lpstr>
      <vt:lpstr>New additions</vt:lpstr>
      <vt:lpstr>Why Evaluation Matters</vt:lpstr>
      <vt:lpstr>When is a model good</vt:lpstr>
      <vt:lpstr>Train/Test split</vt:lpstr>
      <vt:lpstr>Types of Evaluation </vt:lpstr>
      <vt:lpstr>Regression Metrics</vt:lpstr>
      <vt:lpstr>Classification Metrics: Confusion Matrix</vt:lpstr>
      <vt:lpstr>ROC/AUC Curves</vt:lpstr>
      <vt:lpstr>Multicollinearity</vt:lpstr>
      <vt:lpstr>How to Quantify Multicollinearity</vt:lpstr>
      <vt:lpstr>Time Series Models</vt:lpstr>
      <vt:lpstr>Time Series Models</vt:lpstr>
      <vt:lpstr>Time Series Models - Autoregressive Model (AR)</vt:lpstr>
      <vt:lpstr>Mini Project</vt:lpstr>
      <vt:lpstr>Hands On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1</cp:revision>
  <dcterms:modified xsi:type="dcterms:W3CDTF">2025-11-06T09:41:08Z</dcterms:modified>
</cp:coreProperties>
</file>